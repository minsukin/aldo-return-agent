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lus Jakarta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regular.fntdata"/><Relationship Id="rId10" Type="http://schemas.openxmlformats.org/officeDocument/2006/relationships/slide" Target="slides/slide4.xml"/><Relationship Id="rId13" Type="http://schemas.openxmlformats.org/officeDocument/2006/relationships/font" Target="fonts/PlusJakartaSans-italic.fntdata"/><Relationship Id="rId12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PlusJakarta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fae0e7ae4a6e5a3_2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hfae0e7ae4a6e5a3_2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3"/>
              <a:buFont typeface="Plus Jakarta Sans"/>
              <a:buNone/>
            </a:pPr>
            <a:r>
              <a:rPr lang="en-GB" sz="1033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ACP-compatible layer for trusted post-purchase commerce — turning each return into a context-aware decision that protects trust and margin.</a:t>
            </a:r>
            <a:endParaRPr sz="10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fae0e7ae4a6e5a3_2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fae0e7ae4a6e5a3_2_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hfae0e7ae4a6e5a3_2_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hfae0e7ae4a6e5a3_2_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2c9608df6cfd759_14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h52c9608df6cfd759_14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52c9608df6cfd759_14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52c9608df6cfd759_14_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h52c9608df6cfd759_14_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h52c9608df6cfd759_14_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90488" y="57150"/>
            <a:ext cx="1095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 /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7143750" y="57150"/>
            <a:ext cx="19097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Plus Jakarta Sans"/>
              <a:buNone/>
            </a:pPr>
            <a:r>
              <a:rPr b="1" lang="en-GB" sz="784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</a:t>
            </a:r>
            <a:r>
              <a:rPr b="1" lang="en-GB" sz="784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 CMD Commerce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90500" y="238125"/>
            <a:ext cx="8963100" cy="4806300"/>
          </a:xfrm>
          <a:prstGeom prst="roundRect">
            <a:avLst>
              <a:gd fmla="val 3039" name="adj"/>
            </a:avLst>
          </a:prstGeom>
          <a:solidFill>
            <a:srgbClr val="F5F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3929075" y="4419600"/>
            <a:ext cx="13098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&amp; Experience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3929063" y="4229100"/>
            <a:ext cx="1309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Plus Jakarta Sans"/>
              <a:buNone/>
            </a:pPr>
            <a:r>
              <a:rPr b="1" i="0" lang="en-GB" sz="85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Vassili Prokopenko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652463" y="619125"/>
            <a:ext cx="5000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Plus Jakarta Sans"/>
              <a:buNone/>
            </a:pPr>
            <a:r>
              <a:rPr b="1" i="0" lang="en-GB" sz="85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BSRM × ALDO RETAIL GEN AI HACKATHON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652475" y="928750"/>
            <a:ext cx="67068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6"/>
              <a:buFont typeface="Plus Jakarta Sans"/>
              <a:buNone/>
            </a:pPr>
            <a:r>
              <a:rPr b="0" i="0" lang="en-GB" sz="4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Returns Gateway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52463" y="38511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Plus Jakarta Sans"/>
              <a:buNone/>
            </a:pPr>
            <a:r>
              <a:rPr b="1" lang="en-GB" sz="1255">
                <a:latin typeface="Plus Jakarta Sans"/>
                <a:ea typeface="Plus Jakarta Sans"/>
                <a:cs typeface="Plus Jakarta Sans"/>
                <a:sym typeface="Plus Jakarta Sans"/>
              </a:rPr>
              <a:t>Team CMD Commerce</a:t>
            </a:r>
            <a:endParaRPr b="0" i="0" sz="12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652474" y="4229100"/>
            <a:ext cx="1309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Plus Jakarta Sans"/>
              <a:buNone/>
            </a:pPr>
            <a:r>
              <a:rPr b="1" i="0" lang="en-GB" sz="85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Jaden Hum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652486" y="4419600"/>
            <a:ext cx="13098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Full-Stack &amp;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2290763" y="4229100"/>
            <a:ext cx="1309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Plus Jakarta Sans"/>
              <a:buNone/>
            </a:pPr>
            <a:r>
              <a:rPr b="1" i="0" lang="en-GB" sz="85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Minsu Kim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2290775" y="4419600"/>
            <a:ext cx="13098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Systems &amp;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5567363" y="4229100"/>
            <a:ext cx="1309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Plus Jakarta Sans"/>
              <a:buNone/>
            </a:pPr>
            <a:r>
              <a:rPr b="1" i="0" lang="en-GB" sz="85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Allan Nounke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567375" y="4419600"/>
            <a:ext cx="13098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Strategy &amp;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7205663" y="4229100"/>
            <a:ext cx="1309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Plus Jakarta Sans"/>
              <a:buNone/>
            </a:pPr>
            <a:r>
              <a:rPr b="1" i="0" lang="en-GB" sz="85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Yuyun Wang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7205675" y="4419600"/>
            <a:ext cx="130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Research &amp;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11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Responsible AI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90488" y="57150"/>
            <a:ext cx="1095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 /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1300163" y="57150"/>
            <a:ext cx="333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/ AGENTIC SOLUTION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7143750" y="57150"/>
            <a:ext cx="19097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4"/>
              <a:buFont typeface="Plus Jakarta Sans"/>
              <a:buNone/>
            </a:pPr>
            <a:r>
              <a:rPr b="1" lang="en-GB" sz="784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CMD Commerce</a:t>
            </a:r>
            <a:endParaRPr sz="78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t/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303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519125" y="590550"/>
            <a:ext cx="252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981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423"/>
              <a:buFont typeface="Plus Jakarta Sans"/>
              <a:buNone/>
            </a:pPr>
            <a:r>
              <a:rPr b="1" lang="en-GB" sz="2423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request.</a:t>
            </a:r>
            <a:endParaRPr b="1" sz="2423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1981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423"/>
              <a:buFont typeface="Plus Jakarta Sans"/>
              <a:buNone/>
            </a:pPr>
            <a:r>
              <a:rPr b="1" lang="en-GB" sz="2423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best eligible return.</a:t>
            </a:r>
            <a:endParaRPr b="1" sz="2423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538175" y="1899557"/>
            <a:ext cx="2381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1033"/>
              <a:buFont typeface="Plus Jakarta Sans"/>
              <a:buNone/>
            </a:pPr>
            <a:r>
              <a:rPr lang="en-GB" sz="1033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🗣️ </a:t>
            </a:r>
            <a:r>
              <a:rPr b="0" i="0" lang="en-GB" sz="1033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“Hey Muse, return the ALDO shoes I bought last week.”</a:t>
            </a:r>
            <a:endParaRPr b="0" i="0" sz="10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38175" y="2528207"/>
            <a:ext cx="2381100" cy="16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98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784"/>
              <a:buFont typeface="Plus Jakarta Sans"/>
              <a:buNone/>
            </a:pPr>
            <a:r>
              <a:rPr b="0" i="0" lang="en-GB" sz="784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Merchant-controlled reasoning coordinates evidence across systems; deterministic policy remains the authority.</a:t>
            </a:r>
            <a:endParaRPr b="0" i="0" sz="784" u="none" cap="none" strike="noStrike">
              <a:solidFill>
                <a:srgbClr val="B8B8B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4898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784"/>
              <a:buFont typeface="Plus Jakarta Sans"/>
              <a:buNone/>
            </a:pPr>
            <a:r>
              <a:t/>
            </a:r>
            <a:endParaRPr sz="784">
              <a:solidFill>
                <a:srgbClr val="B8B8B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4897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784"/>
              <a:buFont typeface="Plus Jakarta Sans"/>
              <a:buNone/>
            </a:pPr>
            <a:r>
              <a:rPr lang="en-GB" sz="784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Returns require coordination across orders, policies, inventory and logistics. This gateway solution lets customer agents communicate securely with ALDO, while ALDO retains control.</a:t>
            </a:r>
            <a:endParaRPr sz="784">
              <a:solidFill>
                <a:srgbClr val="B8B8B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328988" y="895350"/>
            <a:ext cx="1166700" cy="1190700"/>
          </a:xfrm>
          <a:prstGeom prst="roundRect">
            <a:avLst>
              <a:gd fmla="val 14106" name="adj"/>
            </a:avLst>
          </a:prstGeom>
          <a:solidFill>
            <a:srgbClr val="000000"/>
          </a:solidFill>
          <a:ln cap="flat" cmpd="sng" w="9525">
            <a:solidFill>
              <a:srgbClr val="616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3424238" y="981075"/>
            <a:ext cx="21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424238" y="1190625"/>
            <a:ext cx="9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1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818"/>
              <a:buFont typeface="Plus Jakarta Sans"/>
              <a:buNone/>
            </a:pPr>
            <a:r>
              <a:rPr b="1" lang="en-GB" sz="819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Customer’s  AI Assistant</a:t>
            </a:r>
            <a:endParaRPr b="0" i="0" sz="8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424250" y="1552575"/>
            <a:ext cx="9762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83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606"/>
              <a:buFont typeface="Plus Jakarta Sans"/>
              <a:buNone/>
            </a:pPr>
            <a:r>
              <a:rPr lang="en-GB" sz="606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Identifies the order and return intent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519613" y="1304925"/>
            <a:ext cx="166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1354"/>
              <a:buFont typeface="Plus Jakarta Sans"/>
              <a:buNone/>
            </a:pPr>
            <a:r>
              <a:rPr b="0" i="0" lang="en-GB" sz="1354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3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686300" y="895350"/>
            <a:ext cx="1166700" cy="1190700"/>
          </a:xfrm>
          <a:prstGeom prst="roundRect">
            <a:avLst>
              <a:gd fmla="val 14106" name="adj"/>
            </a:avLst>
          </a:prstGeom>
          <a:solidFill>
            <a:srgbClr val="000000"/>
          </a:solidFill>
          <a:ln cap="flat" cmpd="sng" w="9525">
            <a:solidFill>
              <a:srgbClr val="616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4781550" y="981075"/>
            <a:ext cx="21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781550" y="1190625"/>
            <a:ext cx="9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1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818"/>
              <a:buFont typeface="Plus Jakarta Sans"/>
              <a:buNone/>
            </a:pPr>
            <a:r>
              <a:rPr b="1" i="0" lang="en-GB" sz="819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ALDO GATEWAY</a:t>
            </a:r>
            <a:endParaRPr b="0" i="0" sz="8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781550" y="1552575"/>
            <a:ext cx="976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83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606"/>
              <a:buFont typeface="Plus Jakarta Sans"/>
              <a:buNone/>
            </a:pPr>
            <a:r>
              <a:rPr lang="en-GB" sz="606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Authenticates the agent and grants scoped access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5876925" y="1304925"/>
            <a:ext cx="166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1354"/>
              <a:buFont typeface="Plus Jakarta Sans"/>
              <a:buNone/>
            </a:pPr>
            <a:r>
              <a:rPr b="0" i="0" lang="en-GB" sz="1354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3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043613" y="895350"/>
            <a:ext cx="1166700" cy="1190700"/>
          </a:xfrm>
          <a:prstGeom prst="roundRect">
            <a:avLst>
              <a:gd fmla="val 14106" name="adj"/>
            </a:avLst>
          </a:prstGeom>
          <a:solidFill>
            <a:srgbClr val="F5F1E9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6138863" y="981075"/>
            <a:ext cx="21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6138863" y="1190625"/>
            <a:ext cx="9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Plus Jakarta Sans"/>
              <a:buNone/>
            </a:pPr>
            <a:r>
              <a:rPr b="1" lang="en-GB" sz="819">
                <a:latin typeface="Plus Jakarta Sans"/>
                <a:ea typeface="Plus Jakarta Sans"/>
                <a:cs typeface="Plus Jakarta Sans"/>
                <a:sym typeface="Plus Jakarta Sans"/>
              </a:rPr>
              <a:t>ALDO Returns Agent</a:t>
            </a:r>
            <a:endParaRPr b="0" i="0" sz="8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138875" y="1552575"/>
            <a:ext cx="976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83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06"/>
              <a:buFont typeface="Plus Jakarta Sans"/>
              <a:buNone/>
            </a:pPr>
            <a:r>
              <a:rPr lang="en-GB" sz="606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Checks policy, inventory, logistics and economics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234238" y="1304925"/>
            <a:ext cx="166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1354"/>
              <a:buFont typeface="Plus Jakarta Sans"/>
              <a:buNone/>
            </a:pPr>
            <a:r>
              <a:rPr b="0" i="0" lang="en-GB" sz="1354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3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7400925" y="895350"/>
            <a:ext cx="1166700" cy="1190700"/>
          </a:xfrm>
          <a:prstGeom prst="roundRect">
            <a:avLst>
              <a:gd fmla="val 14106" name="adj"/>
            </a:avLst>
          </a:prstGeom>
          <a:solidFill>
            <a:srgbClr val="000000"/>
          </a:solidFill>
          <a:ln cap="flat" cmpd="sng" w="9525">
            <a:solidFill>
              <a:srgbClr val="616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7496175" y="981075"/>
            <a:ext cx="21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496175" y="1190625"/>
            <a:ext cx="9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18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818"/>
              <a:buFont typeface="Plus Jakarta Sans"/>
              <a:buNone/>
            </a:pPr>
            <a:r>
              <a:rPr b="1" lang="en-GB" sz="819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Eligible Options</a:t>
            </a:r>
            <a:endParaRPr b="0" i="0" sz="8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7496175" y="1552575"/>
            <a:ext cx="9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83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606"/>
              <a:buFont typeface="Plus Jakarta Sans"/>
              <a:buNone/>
            </a:pPr>
            <a:r>
              <a:rPr lang="en-GB" sz="606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Exchange • mail return • in-store return • refund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328988" y="2305050"/>
            <a:ext cx="5238900" cy="390600"/>
          </a:xfrm>
          <a:prstGeom prst="roundRect">
            <a:avLst>
              <a:gd fmla="val 37463" name="adj"/>
            </a:avLst>
          </a:prstGeom>
          <a:solidFill>
            <a:srgbClr val="FBF4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462338" y="2409825"/>
            <a:ext cx="497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Plus Jakarta Sans"/>
              <a:buNone/>
            </a:pPr>
            <a:r>
              <a:rPr b="1" lang="en-GB" sz="819">
                <a:latin typeface="Plus Jakarta Sans"/>
                <a:ea typeface="Plus Jakarta Sans"/>
                <a:cs typeface="Plus Jakarta Sans"/>
                <a:sym typeface="Plus Jakarta Sans"/>
              </a:rPr>
              <a:t>Customer reviews and approves one option in their AI assistant</a:t>
            </a:r>
            <a:endParaRPr b="0" i="0" sz="8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995738" y="28194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940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677"/>
              <a:buFont typeface="Plus Jakarta Sans"/>
              <a:buNone/>
            </a:pPr>
            <a:r>
              <a:rPr b="1" lang="en-GB" sz="677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ALDO executes once → confirms the outcome → escalates exceptions</a:t>
            </a:r>
            <a:endParaRPr b="0" i="0" sz="6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328988" y="4552950"/>
            <a:ext cx="5238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677"/>
              <a:buFont typeface="Plus Jakarta Sans"/>
              <a:buNone/>
            </a:pPr>
            <a:r>
              <a:rPr b="1" i="0" lang="en-GB" sz="677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POLICY decides what is allowed.  THE AGENT reasons about the best allowed option.  THE CUSTOMER authorizes execution.</a:t>
            </a:r>
            <a:endParaRPr b="0" i="0" sz="6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 rot="5400000">
            <a:off x="7900863" y="2077913"/>
            <a:ext cx="166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1354"/>
              <a:buFont typeface="Plus Jakarta Sans"/>
              <a:buNone/>
            </a:pPr>
            <a:r>
              <a:rPr b="0" i="0" lang="en-GB" sz="1354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3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995738" y="3460563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940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677"/>
              <a:buFont typeface="Plus Jakarta Sans"/>
              <a:buNone/>
            </a:pPr>
            <a:r>
              <a:rPr lang="en-GB" sz="877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Prototype Architecture</a:t>
            </a:r>
            <a:endParaRPr i="0" sz="877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328988" y="3867762"/>
            <a:ext cx="1166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7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606"/>
              <a:buFont typeface="Plus Jakarta Sans"/>
              <a:buNone/>
            </a:pPr>
            <a:r>
              <a:rPr b="1" lang="en-GB" sz="606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BEDROCK + GUARDRAILS</a:t>
            </a:r>
            <a:endParaRPr b="0" i="0" sz="6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328988" y="4024925"/>
            <a:ext cx="1166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570"/>
              <a:buFont typeface="Plus Jakarta Sans"/>
              <a:buNone/>
            </a:pPr>
            <a:r>
              <a:rPr lang="en-GB" sz="570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Reasoning, explanations &amp; financial safety rules</a:t>
            </a:r>
            <a:endParaRPr b="0" i="0" sz="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686300" y="3867762"/>
            <a:ext cx="1166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7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606"/>
              <a:buFont typeface="Plus Jakarta Sans"/>
              <a:buNone/>
            </a:pPr>
            <a:r>
              <a:rPr b="1" lang="en-GB" sz="606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STRANDS SDK + AGENTCORE</a:t>
            </a:r>
            <a:endParaRPr b="0" i="0" sz="6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686300" y="4024925"/>
            <a:ext cx="1166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570"/>
              <a:buFont typeface="Plus Jakarta Sans"/>
              <a:buNone/>
            </a:pPr>
            <a:r>
              <a:rPr lang="en-GB" sz="570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runtime, memory &amp; tool orchestration</a:t>
            </a:r>
            <a:endParaRPr b="0" i="0" sz="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043613" y="3867762"/>
            <a:ext cx="1166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7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606"/>
              <a:buFont typeface="Plus Jakarta Sans"/>
              <a:buNone/>
            </a:pPr>
            <a:r>
              <a:rPr b="1" i="0" lang="en-GB" sz="606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GATEWAY + LAMBDA</a:t>
            </a:r>
            <a:endParaRPr b="0" i="0" sz="6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043613" y="4024925"/>
            <a:ext cx="1166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570"/>
              <a:buFont typeface="Plus Jakarta Sans"/>
              <a:buNone/>
            </a:pPr>
            <a:r>
              <a:rPr lang="en-GB" sz="570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execution of ALDO business actions</a:t>
            </a:r>
            <a:endParaRPr b="0" i="0" sz="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7400925" y="3867762"/>
            <a:ext cx="1166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7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606"/>
              <a:buFont typeface="Plus Jakarta Sans"/>
              <a:buNone/>
            </a:pPr>
            <a:r>
              <a:rPr b="1" i="0" lang="en-GB" sz="606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SYNTHETIC RETAIL DATA</a:t>
            </a:r>
            <a:endParaRPr b="0" i="0" sz="6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400925" y="4024925"/>
            <a:ext cx="1166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570"/>
              <a:buFont typeface="Plus Jakarta Sans"/>
              <a:buNone/>
            </a:pPr>
            <a:r>
              <a:rPr lang="en-GB" sz="570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context across orders, policies, inventory &amp; logistics</a:t>
            </a:r>
            <a:endParaRPr b="0" i="0" sz="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90488" y="57150"/>
            <a:ext cx="1095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 /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1300163" y="57150"/>
            <a:ext cx="333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/ PROCESS &amp; METHODOLOGY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143750" y="57150"/>
            <a:ext cx="19097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CMD Commerce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90500" y="238125"/>
            <a:ext cx="8963100" cy="4825800"/>
          </a:xfrm>
          <a:prstGeom prst="roundRect">
            <a:avLst>
              <a:gd fmla="val 3039" name="adj"/>
            </a:avLst>
          </a:prstGeom>
          <a:solidFill>
            <a:srgbClr val="F5F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519113" y="628650"/>
            <a:ext cx="2238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0"/>
              <a:buFont typeface="Plus Jakarta Sans"/>
              <a:buNone/>
            </a:pPr>
            <a:r>
              <a:rPr b="1" i="0" lang="en-GB" sz="228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 days to a</a:t>
            </a:r>
            <a:endParaRPr b="0" i="0" sz="2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0"/>
              <a:buFont typeface="Plus Jakarta Sans"/>
              <a:buNone/>
            </a:pPr>
            <a:r>
              <a:rPr b="1" i="0" lang="en-GB" sz="228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working demo</a:t>
            </a:r>
            <a:endParaRPr b="0" i="0" sz="2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538163" y="1476375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7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855"/>
              <a:buFont typeface="Plus Jakarta Sans"/>
              <a:buNone/>
            </a:pPr>
            <a:r>
              <a:rPr b="0" i="0" lang="en-GB" sz="855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Shared milestones. Five parallel workstreams.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38163" y="2143125"/>
            <a:ext cx="1905000" cy="20955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95313" y="2190750"/>
            <a:ext cx="1790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50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606"/>
              <a:buFont typeface="Plus Jakarta Sans"/>
              <a:buNone/>
            </a:pPr>
            <a:r>
              <a:rPr b="1" i="0" lang="en-GB" sz="606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SYNTHETIC DATA + SIMULATED APIs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186113" y="666750"/>
            <a:ext cx="2452688" cy="1214438"/>
          </a:xfrm>
          <a:prstGeom prst="roundRect">
            <a:avLst>
              <a:gd fmla="val 16667" name="adj"/>
            </a:avLst>
          </a:prstGeom>
          <a:solidFill>
            <a:srgbClr val="FBF4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3300413" y="762000"/>
            <a:ext cx="2166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6"/>
              <a:buFont typeface="Plus Jakarta Sans"/>
              <a:buNone/>
            </a:pPr>
            <a:r>
              <a:rPr b="1" i="0" lang="en-GB" sz="60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1 / AM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3300413" y="952500"/>
            <a:ext cx="2166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Plus Jakarta Sans"/>
              <a:buNone/>
            </a:pPr>
            <a:r>
              <a:rPr b="1" i="0" lang="en-GB" sz="998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 + MODEL</a:t>
            </a: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300413" y="1200150"/>
            <a:ext cx="21669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101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 the journey, success measures and escalation points. 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38163" y="3381375"/>
            <a:ext cx="2238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Plus Jakarta Sans"/>
              <a:buNone/>
            </a:pPr>
            <a:r>
              <a:rPr b="1" i="0" lang="en-GB" sz="6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Vassili — Experience + prototype UX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853113" y="666750"/>
            <a:ext cx="2452688" cy="1214438"/>
          </a:xfrm>
          <a:prstGeom prst="roundRect">
            <a:avLst>
              <a:gd fmla="val 16667" name="adj"/>
            </a:avLst>
          </a:prstGeom>
          <a:solidFill>
            <a:srgbClr val="F5F1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967413" y="762000"/>
            <a:ext cx="2166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6"/>
              <a:buFont typeface="Plus Jakarta Sans"/>
              <a:buNone/>
            </a:pPr>
            <a:r>
              <a:rPr b="1" i="0" lang="en-GB" sz="60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1 / PM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967413" y="952500"/>
            <a:ext cx="2166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Plus Jakarta Sans"/>
              <a:buNone/>
            </a:pPr>
            <a:r>
              <a:rPr b="1" i="0" lang="en-GB" sz="998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THE AGENT LOOP</a:t>
            </a: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5967413" y="1200150"/>
            <a:ext cx="21669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101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 Bedrock + Strands to scoped tools and deterministic policy checks.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38163" y="3143250"/>
            <a:ext cx="2238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Plus Jakarta Sans"/>
              <a:buNone/>
            </a:pPr>
            <a:r>
              <a:rPr b="1" i="0" lang="en-GB" sz="6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Minsu — Agent systems + AWS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186113" y="2119313"/>
            <a:ext cx="2452688" cy="1214438"/>
          </a:xfrm>
          <a:prstGeom prst="roundRect">
            <a:avLst>
              <a:gd fmla="val 16667" name="adj"/>
            </a:avLst>
          </a:prstGeom>
          <a:solidFill>
            <a:srgbClr val="F5F1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3300413" y="2214563"/>
            <a:ext cx="2166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6"/>
              <a:buFont typeface="Plus Jakarta Sans"/>
              <a:buNone/>
            </a:pPr>
            <a:r>
              <a:rPr b="1" i="0" lang="en-GB" sz="60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2 / AM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300413" y="2405063"/>
            <a:ext cx="21669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Plus Jakarta Sans"/>
              <a:buNone/>
            </a:pPr>
            <a:r>
              <a:rPr b="1" i="0" lang="en-GB" sz="85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EXPERIENCE + SAFETY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300413" y="2700338"/>
            <a:ext cx="21669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101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option comparison, explanations, customer approval and human handoff.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38163" y="2905125"/>
            <a:ext cx="2238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Plus Jakarta Sans"/>
              <a:buNone/>
            </a:pPr>
            <a:r>
              <a:rPr b="1" i="0" lang="en-GB" sz="6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Jaden — Application + integrations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5853113" y="2119313"/>
            <a:ext cx="2452688" cy="1214438"/>
          </a:xfrm>
          <a:prstGeom prst="roundRect">
            <a:avLst>
              <a:gd fmla="val 16667" name="adj"/>
            </a:avLst>
          </a:prstGeom>
          <a:solidFill>
            <a:srgbClr val="F5F1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967413" y="2214563"/>
            <a:ext cx="2166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6"/>
              <a:buFont typeface="Plus Jakarta Sans"/>
              <a:buNone/>
            </a:pPr>
            <a:r>
              <a:rPr b="1" i="0" lang="en-GB" sz="60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2 / PM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967413" y="2405063"/>
            <a:ext cx="2166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Plus Jakarta Sans"/>
              <a:buNone/>
            </a:pPr>
            <a:r>
              <a:rPr b="1" i="0" lang="en-GB" sz="998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+ PROVE</a:t>
            </a: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967413" y="2652713"/>
            <a:ext cx="21669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101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41"/>
              <a:buFont typeface="Plus Jakarta Sans"/>
              <a:buNone/>
            </a:pPr>
            <a:r>
              <a:rPr b="0" i="0" lang="en-GB" sz="641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 success, denial, tool-failure and duplicate-request cases. Rehearse the demo.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38163" y="3619500"/>
            <a:ext cx="2238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Plus Jakarta Sans"/>
              <a:buNone/>
            </a:pPr>
            <a:r>
              <a:rPr b="1" i="0" lang="en-GB" sz="6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Allan — Business case + impact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186113" y="3690937"/>
            <a:ext cx="1190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Plus Jakarta Sans"/>
              <a:buNone/>
            </a:pPr>
            <a:r>
              <a:rPr b="1" i="0" lang="en-GB" sz="6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MITIGATION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186113" y="3905250"/>
            <a:ext cx="1628775" cy="32385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3262313" y="3952875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1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Scoped authorization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3262313" y="4095750"/>
            <a:ext cx="14763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2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498"/>
              <a:buFont typeface="Plus Jakarta Sans"/>
              <a:buNone/>
            </a:pPr>
            <a:r>
              <a:rPr b="0" i="0" lang="en-GB" sz="499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Approved tools + data only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948238" y="3905250"/>
            <a:ext cx="1628775" cy="32385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024438" y="3952875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1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Policy-enforced eligibility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024438" y="4095750"/>
            <a:ext cx="14763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2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498"/>
              <a:buFont typeface="Plus Jakarta Sans"/>
              <a:buNone/>
            </a:pPr>
            <a:r>
              <a:rPr b="0" i="0" lang="en-GB" sz="499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Rules cannot be overridden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710363" y="3905250"/>
            <a:ext cx="1628775" cy="32385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6786563" y="3952875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1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Approval before action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786563" y="4095750"/>
            <a:ext cx="14763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2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498"/>
              <a:buFont typeface="Plus Jakarta Sans"/>
              <a:buNone/>
            </a:pPr>
            <a:r>
              <a:rPr b="0" i="0" lang="en-GB" sz="499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confirms choice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186113" y="4324350"/>
            <a:ext cx="1628775" cy="32385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3262313" y="4371975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1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Duplicate protection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3262313" y="4514850"/>
            <a:ext cx="14763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2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498"/>
              <a:buFont typeface="Plus Jakarta Sans"/>
              <a:buNone/>
            </a:pPr>
            <a:r>
              <a:rPr b="0" i="0" lang="en-GB" sz="499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request, one transaction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948238" y="4324350"/>
            <a:ext cx="1628775" cy="32385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024438" y="4371975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1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Human escalation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024438" y="4514850"/>
            <a:ext cx="14763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2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498"/>
              <a:buFont typeface="Plus Jakarta Sans"/>
              <a:buNone/>
            </a:pPr>
            <a:r>
              <a:rPr b="0" i="0" lang="en-GB" sz="499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Exceptions leave the agent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710363" y="4324350"/>
            <a:ext cx="1628775" cy="32385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6786563" y="4371975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1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explanations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786563" y="4514850"/>
            <a:ext cx="14763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20"/>
              </a:lnSpc>
              <a:spcBef>
                <a:spcPts val="0"/>
              </a:spcBef>
              <a:spcAft>
                <a:spcPts val="0"/>
              </a:spcAft>
              <a:buClr>
                <a:srgbClr val="B8B8B2"/>
              </a:buClr>
              <a:buSzPts val="498"/>
              <a:buFont typeface="Plus Jakarta Sans"/>
              <a:buNone/>
            </a:pPr>
            <a:r>
              <a:rPr b="0" i="0" lang="en-GB" sz="499" u="none" cap="none" strike="noStrike">
                <a:solidFill>
                  <a:srgbClr val="B8B8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Evidence + rationale shown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38163" y="2643188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Plus Jakarta Sans"/>
              <a:buNone/>
            </a:pPr>
            <a:r>
              <a:rPr b="1" i="0" lang="en-GB" sz="6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PARALLEL WORKSTREAMS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38163" y="3857625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Plus Jakarta Sans"/>
              <a:buNone/>
            </a:pPr>
            <a:r>
              <a:rPr b="1" i="0" lang="en-GB" sz="6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Yuyun — Research + responsible AI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38163" y="4167188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83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06"/>
              <a:buFont typeface="Plus Jakarta Sans"/>
              <a:buNone/>
            </a:pPr>
            <a:r>
              <a:rPr b="0" i="0" lang="en-GB" sz="606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five workstreams run throughout both days.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983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606"/>
              <a:buFont typeface="Plus Jakarta Sans"/>
              <a:buNone/>
            </a:pPr>
            <a:r>
              <a:rPr b="0" i="0" lang="en-GB" sz="606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checkpoints keep the experience, technology and business case aligned.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/>
          <p:nvPr/>
        </p:nvSpPr>
        <p:spPr>
          <a:xfrm>
            <a:off x="90488" y="57150"/>
            <a:ext cx="1095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 /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1300163" y="57150"/>
            <a:ext cx="333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/ BUSINESS IMPACT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143750" y="57150"/>
            <a:ext cx="19097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Plus Jakarta Sans"/>
              <a:buNone/>
            </a:pPr>
            <a:r>
              <a:rPr b="1" i="0" lang="en-GB" sz="784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CMD Commerce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90500" y="238125"/>
            <a:ext cx="8963100" cy="4815900"/>
          </a:xfrm>
          <a:prstGeom prst="roundRect">
            <a:avLst>
              <a:gd fmla="val 3039" name="adj"/>
            </a:avLst>
          </a:prstGeom>
          <a:solidFill>
            <a:srgbClr val="F5F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461963" y="1890713"/>
            <a:ext cx="2405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855"/>
              <a:buFont typeface="Plus Jakarta Sans"/>
              <a:buNone/>
            </a:pPr>
            <a:r>
              <a:rPr b="0" i="0" lang="en-GB" sz="855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guided conversation reduces customer effort, protects margin and gives ALDO earlier inventory signals.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61963" y="2724150"/>
            <a:ext cx="2214563" cy="209550"/>
          </a:xfrm>
          <a:prstGeom prst="roundRect">
            <a:avLst>
              <a:gd fmla="val 16667" name="adj"/>
            </a:avLst>
          </a:prstGeom>
          <a:solidFill>
            <a:srgbClr val="FBF4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19113" y="2771775"/>
            <a:ext cx="21002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6"/>
              <a:buFont typeface="Plus Jakarta Sans"/>
              <a:buNone/>
            </a:pPr>
            <a:r>
              <a:rPr b="1" i="0" lang="en-GB" sz="60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WE WILL MEASURE IN THE PILOT</a:t>
            </a:r>
            <a:endParaRPr b="0" i="0" sz="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61963" y="3357563"/>
            <a:ext cx="242887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Font typeface="Plus Jakarta Sans"/>
              <a:buNone/>
            </a:pPr>
            <a:r>
              <a:rPr b="1" i="0" lang="en-GB" sz="677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ALIGNED WITH ALDO</a:t>
            </a:r>
            <a:endParaRPr b="0" i="0" sz="6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9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Font typeface="Plus Jakarta Sans"/>
              <a:buNone/>
            </a:pPr>
            <a:r>
              <a:rPr b="1" i="0" lang="en-GB" sz="677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CUSTOMER-FIRST RETURNS</a:t>
            </a:r>
            <a:endParaRPr b="0" i="0" sz="6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9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Font typeface="Plus Jakarta Sans"/>
              <a:buNone/>
            </a:pPr>
            <a:r>
              <a:rPr b="1" i="0" lang="en-GB" sz="677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STORE + MAIL + E-COMMERCE</a:t>
            </a:r>
            <a:endParaRPr b="0" i="0" sz="6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9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Font typeface="Plus Jakarta Sans"/>
              <a:buNone/>
            </a:pPr>
            <a:r>
              <a:rPr b="1" i="0" lang="en-GB" sz="677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AWS-BASED AGENT INFRASTRUCTURE</a:t>
            </a:r>
            <a:endParaRPr b="0" i="0" sz="6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186113" y="690563"/>
            <a:ext cx="5119688" cy="1095375"/>
          </a:xfrm>
          <a:prstGeom prst="rect">
            <a:avLst/>
          </a:prstGeom>
          <a:solidFill>
            <a:srgbClr val="F5F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3186113" y="795338"/>
            <a:ext cx="11906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Plus Jakarta Sans"/>
              <a:buNone/>
            </a:pPr>
            <a:r>
              <a:rPr b="0" i="0" lang="en-GB" sz="1568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LESS EFFORT</a:t>
            </a:r>
            <a:endParaRPr b="0" i="0" sz="1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614863" y="804863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Plus Jakarta Sans"/>
              <a:buNone/>
            </a:pPr>
            <a:r>
              <a:rPr b="1" i="0" lang="en-GB" sz="89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EXPERIENCE</a:t>
            </a:r>
            <a:endParaRPr b="0" i="0" sz="8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614863" y="1052513"/>
            <a:ext cx="3429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748"/>
              <a:buFont typeface="Plus Jakarta Sans"/>
              <a:buNone/>
            </a:pPr>
            <a:r>
              <a:rPr b="0" i="0" lang="en-GB" sz="748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conversation, clear eligible choices and no repeated explanations across channels.</a:t>
            </a:r>
            <a:endParaRPr b="0" i="0" sz="7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9"/>
          <p:cNvCxnSpPr/>
          <p:nvPr/>
        </p:nvCxnSpPr>
        <p:spPr>
          <a:xfrm>
            <a:off x="4614863" y="1423988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B8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9"/>
          <p:cNvSpPr/>
          <p:nvPr/>
        </p:nvSpPr>
        <p:spPr>
          <a:xfrm>
            <a:off x="4614863" y="1509713"/>
            <a:ext cx="342900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Resolution time · satisfaction · option acceptance · escalation rate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186113" y="2071688"/>
            <a:ext cx="5119688" cy="1095375"/>
          </a:xfrm>
          <a:prstGeom prst="rect">
            <a:avLst/>
          </a:prstGeom>
          <a:solidFill>
            <a:srgbClr val="F5F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3186113" y="2176463"/>
            <a:ext cx="1190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6"/>
              <a:buFont typeface="Plus Jakarta Sans"/>
              <a:buNone/>
            </a:pPr>
            <a:r>
              <a:rPr b="0" i="0" lang="en-GB" sz="149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MORE SALES</a:t>
            </a:r>
            <a:endParaRPr b="0" i="0" sz="14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6"/>
              <a:buFont typeface="Plus Jakarta Sans"/>
              <a:buNone/>
            </a:pPr>
            <a:r>
              <a:rPr b="0" i="0" lang="en-GB" sz="149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SAVED</a:t>
            </a:r>
            <a:endParaRPr b="0" i="0" sz="14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614863" y="2185988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Plus Jakarta Sans"/>
              <a:buNone/>
            </a:pPr>
            <a:r>
              <a:rPr b="1" i="0" lang="en-GB" sz="89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MARGIN + SERVICE</a:t>
            </a:r>
            <a:endParaRPr b="0" i="0" sz="8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614863" y="2433638"/>
            <a:ext cx="3429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748"/>
              <a:buFont typeface="Plus Jakarta Sans"/>
              <a:buNone/>
            </a:pPr>
            <a:r>
              <a:rPr b="0" i="0" lang="en-GB" sz="748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Guide eligible customers toward exchanges while reducing support, shipping and handling costs.</a:t>
            </a:r>
            <a:endParaRPr b="0" i="0" sz="7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19"/>
          <p:cNvCxnSpPr/>
          <p:nvPr/>
        </p:nvCxnSpPr>
        <p:spPr>
          <a:xfrm>
            <a:off x="4614863" y="2805113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B8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9"/>
          <p:cNvSpPr/>
          <p:nvPr/>
        </p:nvSpPr>
        <p:spPr>
          <a:xfrm>
            <a:off x="4614863" y="2890838"/>
            <a:ext cx="342900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Exchange conversion · margin retained · cost per return · contact rate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186113" y="3452813"/>
            <a:ext cx="5119688" cy="1095375"/>
          </a:xfrm>
          <a:prstGeom prst="rect">
            <a:avLst/>
          </a:prstGeom>
          <a:solidFill>
            <a:srgbClr val="F5F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3186113" y="3557588"/>
            <a:ext cx="1190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6"/>
              <a:buFont typeface="Plus Jakarta Sans"/>
              <a:buNone/>
            </a:pPr>
            <a:r>
              <a:rPr b="0" i="0" lang="en-GB" sz="149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EARLIER</a:t>
            </a:r>
            <a:endParaRPr b="0" i="0" sz="14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6"/>
              <a:buFont typeface="Plus Jakarta Sans"/>
              <a:buNone/>
            </a:pPr>
            <a:r>
              <a:rPr b="0" i="0" lang="en-GB" sz="149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SIGNALS</a:t>
            </a:r>
            <a:endParaRPr b="0" i="0" sz="14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4614863" y="3567113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Plus Jakarta Sans"/>
              <a:buNone/>
            </a:pPr>
            <a:r>
              <a:rPr b="1" i="0" lang="en-GB" sz="89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VISIBILITY</a:t>
            </a:r>
            <a:endParaRPr b="0" i="0" sz="8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614863" y="3814763"/>
            <a:ext cx="3429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748"/>
              <a:buFont typeface="Plus Jakarta Sans"/>
              <a:buNone/>
            </a:pPr>
            <a:r>
              <a:rPr b="0" i="0" lang="en-GB" sz="748" u="none" cap="none" strike="noStrike">
                <a:solidFill>
                  <a:srgbClr val="6161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Capture consistent return reasons and expected inventory before products reach a store or distribution centre.</a:t>
            </a:r>
            <a:endParaRPr b="0" i="0" sz="7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9"/>
          <p:cNvCxnSpPr/>
          <p:nvPr/>
        </p:nvCxnSpPr>
        <p:spPr>
          <a:xfrm>
            <a:off x="4614863" y="4186238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B8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9"/>
          <p:cNvSpPr/>
          <p:nvPr/>
        </p:nvSpPr>
        <p:spPr>
          <a:xfrm>
            <a:off x="4614863" y="4271963"/>
            <a:ext cx="342900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"/>
              <a:buFont typeface="Plus Jakarta Sans"/>
              <a:buNone/>
            </a:pPr>
            <a:r>
              <a:rPr b="1" i="0" lang="en-GB" sz="57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Reason completeness · lead time gained · forecast accuracy</a:t>
            </a:r>
            <a:endParaRPr b="0" i="0" sz="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19113" y="628650"/>
            <a:ext cx="223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0"/>
              <a:buFont typeface="Plus Jakarta Sans"/>
              <a:buNone/>
            </a:pPr>
            <a:r>
              <a:rPr b="1" lang="en-GB" sz="2280">
                <a:latin typeface="Plus Jakarta Sans"/>
                <a:ea typeface="Plus Jakarta Sans"/>
                <a:cs typeface="Plus Jakarta Sans"/>
                <a:sym typeface="Plus Jakarta Sans"/>
              </a:rPr>
              <a:t>Every return becomes a </a:t>
            </a:r>
            <a:endParaRPr b="1" sz="228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2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0"/>
              <a:buFont typeface="Plus Jakarta Sans"/>
              <a:buNone/>
            </a:pPr>
            <a:r>
              <a:rPr b="1" lang="en-GB" sz="2280">
                <a:latin typeface="Plus Jakarta Sans"/>
                <a:ea typeface="Plus Jakarta Sans"/>
                <a:cs typeface="Plus Jakarta Sans"/>
                <a:sym typeface="Plus Jakarta Sans"/>
              </a:rPr>
              <a:t>better decision</a:t>
            </a:r>
            <a:endParaRPr b="1" sz="228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